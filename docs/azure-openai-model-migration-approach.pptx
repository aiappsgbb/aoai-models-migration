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Segoe UI"/>
              </a:defRPr>
            </a:pPr>
            <a:r>
              <a:t>Azure OpenAI Model Migration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50E6FF"/>
                </a:solidFill>
                <a:latin typeface="Segoe UI"/>
              </a:defRPr>
            </a:pPr>
            <a:r>
              <a:t>A Practical, Automated 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CCEE"/>
                </a:solidFill>
                <a:latin typeface="Segoe UI"/>
              </a:defRPr>
            </a:pPr>
            <a:r>
              <a:t>Hybrid methodology  •  Config-only model swap  •  Reusable golden datasets  •  CI/CD automation  •  Azure AI Foundry dashboards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Microsoft  |  Global Black Belt — AI Apps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The Challenge: Model Retirement Is Inevitable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What enterprises tell 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is too expensive per use case"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"We need to rebuild test sets for every application"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"End-to-end testing detects issues but not root causes"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"Evaluation methodology is unclear or inconsistent"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600">
                <a:solidFill>
                  <a:srgbClr val="606060"/>
                </a:solidFill>
                <a:latin typeface="Segoe UI"/>
              </a:rPr>
              <a:t>❌ "Manual intervention doesn't scale to dozens of use cases"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188720"/>
            <a:ext cx="5029200" cy="47548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The reality: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92024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Azure OpenAI models retire on a published schedule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Enterprise apps chain 3-5 models together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Regression in ANY step degrades the final output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You need to know WHERE it broke, not just IF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Testing must be repeatable and automated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→ We need a methodology that is automated, actionable, and reusable across every migration cycle.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Model Upgrade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2103120" cy="3200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Retirement</a:t>
            </a:r>
            <a:br/>
            <a:r>
              <a:t>Announced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Model version flagged</a:t>
            </a:r>
            <a:br/>
            <a:r>
              <a:t>for deprecation</a:t>
            </a:r>
            <a:br/>
            <a:r>
              <a:t>(typically 6-12 months</a:t>
            </a:r>
            <a:br/>
            <a:r>
              <a:t>notice)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1188720"/>
            <a:ext cx="2103120" cy="3200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Inventory &amp;</a:t>
            </a:r>
            <a:br/>
            <a:r>
              <a:t>Prioritize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Identify all deployments</a:t>
            </a:r>
            <a:br/>
            <a:r>
              <a:t>using retiring model.</a:t>
            </a:r>
            <a:br/>
            <a:r>
              <a:t>Rank by business</a:t>
            </a:r>
            <a:br/>
            <a:r>
              <a:t>criticality.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1188720"/>
            <a:ext cx="2103120" cy="3200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Evaluate</a:t>
            </a:r>
            <a:br/>
            <a:r>
              <a:t>Candidate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Run hybrid evaluation</a:t>
            </a:r>
            <a:br/>
            <a:r>
              <a:t>(E2E + task-level)</a:t>
            </a:r>
            <a:br/>
            <a:r>
              <a:t>against golden dataset.</a:t>
            </a:r>
            <a:br/>
            <a:r>
              <a:t>Compare scores.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188720"/>
            <a:ext cx="2103120" cy="320040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Migrate &amp;</a:t>
            </a:r>
            <a:br/>
            <a:r>
              <a:t>Validate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Swap model deployment.</a:t>
            </a:r>
            <a:br/>
            <a:r>
              <a:t>Run regression suite.</a:t>
            </a:r>
            <a:br/>
            <a:r>
              <a:t>Verify in staging.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28600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09760" y="1188720"/>
            <a:ext cx="2103120" cy="32004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0" y="132588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FFFFFF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1828800"/>
            <a:ext cx="1920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Segoe UI"/>
              </a:defRPr>
            </a:pPr>
            <a:r>
              <a:t>Monitor</a:t>
            </a:r>
            <a:br/>
            <a:r>
              <a:t>Post-Migration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2560320"/>
            <a:ext cx="1920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EEEEEE"/>
                </a:solidFill>
                <a:latin typeface="Segoe UI"/>
              </a:defRPr>
            </a:pPr>
            <a:r>
              <a:t>Track quality drift</a:t>
            </a:r>
            <a:br/>
            <a:r>
              <a:t>over time. Nightly</a:t>
            </a:r>
            <a:br/>
            <a:r>
              <a:t>CI/CD ensures no</a:t>
            </a:r>
            <a:br/>
            <a:r>
              <a:t>silent regressions.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754880"/>
            <a:ext cx="1069848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This toolkit focuses on phases 3-5: Evaluate → Migrate → Monitor. The evaluation framework is reusable across every retirement cycle.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5778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Deployment update policies: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9436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NoAutoUpgrade: Full control, must migrate manually before retirement  •  AutoUpgrade (default): Microsoft upgrades automatically  •  OnceNewDefaultAvailable: Upgrades when a stable successor is designated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Why Multi-Step Applications Are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Most production AI systems chain multiple steps. Here are two common patterns: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8D4"/>
                </a:solidFill>
                <a:latin typeface="Segoe UI"/>
              </a:defRPr>
            </a:pPr>
            <a:r>
              <a:t>RAG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1554480"/>
            <a:ext cx="1920240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3172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Rephrase</a:t>
            </a:r>
            <a:br/>
            <a:r>
              <a:t>(LLM)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920240" cy="731520"/>
          </a:xfrm>
          <a:prstGeom prst="round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0060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Embed</a:t>
            </a:r>
            <a:br/>
            <a:r>
              <a:t>(Embed.)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0" y="1554480"/>
            <a:ext cx="1920240" cy="7315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8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Retrieve</a:t>
            </a:r>
            <a:br/>
            <a:r>
              <a:t>(Vector DB)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16916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92640" y="1554480"/>
            <a:ext cx="1920240" cy="7315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38360" y="160020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Generate</a:t>
            </a:r>
            <a:br/>
            <a:r>
              <a:t>(LLM)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2560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Segoe UI"/>
              </a:defRPr>
            </a:pPr>
            <a:r>
              <a:t>Agentic 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86000" y="2560320"/>
            <a:ext cx="1920240" cy="73152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3172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Planner</a:t>
            </a:r>
            <a:br/>
            <a:r>
              <a:t>(LLM)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2560320"/>
            <a:ext cx="1920240" cy="7315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Tool Caller</a:t>
            </a:r>
            <a:br/>
            <a:r>
              <a:t>(LLM + APIs)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2560320"/>
            <a:ext cx="1920240" cy="731520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6948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Execute</a:t>
            </a:r>
            <a:br/>
            <a:r>
              <a:t>(External)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697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2560320"/>
            <a:ext cx="1920240" cy="73152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738360" y="26060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Summarize</a:t>
            </a:r>
            <a:br/>
            <a:r>
              <a:t>(LLM)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35661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D13438"/>
                </a:solidFill>
                <a:latin typeface="Segoe UI"/>
              </a:defRPr>
            </a:pPr>
            <a:r>
              <a:t>The emergent regression problem: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31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Segoe UI"/>
              </a:defRPr>
            </a:pPr>
            <a:r>
              <a:t>Upgrading ONE step can break the whole chain. In RAG: better embeddings surface different documents → generation quality drops. In agentic apps: a new planner model chooses different tool sequences → downstream calls fail or produce different results. The regression is EMERGENT — it only appears when steps interact.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029200"/>
            <a:ext cx="539496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D13438"/>
                </a:solidFill>
                <a:latin typeface="Segoe UI"/>
              </a:defRPr>
            </a:pPr>
            <a:r>
              <a:t>Single-call evaluation: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Tests each model in isolation → all pass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Ships to production → regression discovered by users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Cannot attribute which step caused the problem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5029200"/>
            <a:ext cx="5394960" cy="1554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51206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07C10"/>
                </a:solidFill>
                <a:latin typeface="Segoe UI"/>
              </a:defRPr>
            </a:pPr>
            <a:r>
              <a:t>Multi-step evaluation: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548640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End-to-end catches the emergent regression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Task-level pinpoints which step broke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606060"/>
                </a:solidFill>
                <a:latin typeface="Segoe UI"/>
              </a:rPr>
              <a:t>Migrate one model at a time → isolate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Hybrid Evaluation Methodology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502920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E2E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End-to-End Evaluation (Monitoring Layer)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Run full pipeline → score final output</a:t>
            </a:r>
            <a:br/>
            <a:br/>
            <a:r>
              <a:t>• Catches regressions quickly</a:t>
            </a:r>
            <a:br/>
            <a:r>
              <a:t>• Automated (CI/CD nightly)</a:t>
            </a:r>
            <a:br/>
            <a:r>
              <a:t>• Low effort: ~40 API calls for 20 tests</a:t>
            </a:r>
            <a:br/>
            <a:r>
              <a:t>• Reusable golden dataset</a:t>
            </a:r>
            <a:br/>
            <a:r>
              <a:t>• Answers: DID quality change?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80160"/>
            <a:ext cx="502920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280160"/>
            <a:ext cx="502920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TL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Task-Level Evaluation (Diagnostic Layer)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69748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Isolate each step → score independently</a:t>
            </a:r>
            <a:br/>
            <a:br/>
            <a:r>
              <a:t>• Retrieval: Precision@k, Recall@k, MRR</a:t>
            </a:r>
            <a:br/>
            <a:r>
              <a:t>• Generation: Groundedness with correct context</a:t>
            </a:r>
            <a:br/>
            <a:r>
              <a:t>• Pinpoints WHERE regression occurred</a:t>
            </a:r>
            <a:br/>
            <a:r>
              <a:t>• No LLM needed for retrieval scoring</a:t>
            </a:r>
            <a:br/>
            <a:r>
              <a:t>• Answers: WHERE did it break?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When to use which: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731520" y="470916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Scenario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End-to-End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Task-Level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Routine model update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Primary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Only if regression found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Critical production 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Debugging a regression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Initial signal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Root cause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New model family (4o → 5.x)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✅ Recommended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Evaluation Metrics &amp; Scoring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Three independent dimensions — each measures something different: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20116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Groundedness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supported ONLY</a:t>
            </a:r>
            <a:br/>
            <a:r>
              <a:t>by the provided context?</a:t>
            </a:r>
            <a:br/>
            <a:br/>
            <a:r>
              <a:t>Compares: Answer ↔ Context</a:t>
            </a:r>
            <a:br/>
            <a:r>
              <a:t>Does NOT use expected answer</a:t>
            </a:r>
            <a:br/>
            <a:br/>
            <a:r>
              <a:t>1 = hallucinated</a:t>
            </a:r>
            <a:br/>
            <a:r>
              <a:t>5 = fully grounded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80559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0559" y="173736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754879" y="201168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Relevance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39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the answer directly</a:t>
            </a:r>
            <a:br/>
            <a:r>
              <a:t>address the user's question?</a:t>
            </a:r>
            <a:br/>
            <a:br/>
            <a:r>
              <a:t>Compares: Answer ↔ Question</a:t>
            </a:r>
            <a:br/>
            <a:r>
              <a:t>Does NOT use expected answer</a:t>
            </a:r>
            <a:br/>
            <a:br/>
            <a:r>
              <a:t>1 = off-topic</a:t>
            </a:r>
            <a:br/>
            <a:r>
              <a:t>5 = directly answers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598" y="1737360"/>
            <a:ext cx="3474720" cy="2926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598" y="173736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18" y="20116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788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Correctness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78" y="31546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answer factually aligned</a:t>
            </a:r>
            <a:br/>
            <a:r>
              <a:t>with the reference answer?</a:t>
            </a:r>
            <a:br/>
            <a:br/>
            <a:r>
              <a:t>Compares: Answer ↔ Expected</a:t>
            </a:r>
            <a:br/>
            <a:r>
              <a:t>ONLY metric using expected answer</a:t>
            </a:r>
            <a:br/>
            <a:br/>
            <a:r>
              <a:t>1 = wrong</a:t>
            </a:r>
            <a:br/>
            <a:r>
              <a:t>5 = matches expected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9377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002B5C"/>
                </a:solidFill>
                <a:latin typeface="Segoe UI"/>
              </a:defRPr>
            </a:pPr>
            <a:r>
              <a:t>Retrieval scoring (no LLM needed — pure computation):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731520" y="5394960"/>
          <a:ext cx="10698480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2971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What It Measures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It's Computed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Precision@k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retrieved docs, how many are relevant?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Recall@k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Of relevant docs, how many were retrieved?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|retrieved ∩ expected| / |expected|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How high is the first relevant result?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 / rank of first relevant hit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LLM-as-Judge: Why and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Why LLM-as-Judge?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Human evaluation is the gold standard — but it's slow and expensive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LLM judges correlate 85-95% with human ratings on structured rubrics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Automated → can run nightly on every commit or model change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Consistent — same rubric, every time, no reviewer fatigue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Auditable — judge reasoning captured in JSON audit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13438"/>
                </a:solidFill>
                <a:latin typeface="Segoe UI"/>
              </a:defRPr>
            </a:pPr>
            <a:r>
              <a:t>Judge Independence (avoiding circular logic):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⚠ Common mistake: using the target model as its own judge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Our approach: judge is a SEPARATE, fixed model (e.g., gpt-4o)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Groundedness: judges answer vs CONTEXT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Relevance: judges answer vs QUESTION (no expected answer used)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Correctness: only metric comparing to expected (reference) answer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✅ Judge model is configured independently via RAG_JUDGE_MODEL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Scoring rubric design: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457200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35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Meaning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When Assigned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Perfect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Fully grounded, directly answers, matches expected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Good with minor gap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Mostly correct, small omission or slight imprecision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Acceptable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Partially correct, missing key details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Poor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Significant errors or irrelevant content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Failure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Hallucinated, off-topic, or contradicts expected answer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Evaluating Agentic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Agents add planning and tool calling — the same dual-layer methodology applies, with agentic-specific metrics: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45920"/>
            <a:ext cx="3474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64592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92024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Planner (highest risk)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0632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Does it pick the right tools in</a:t>
            </a:r>
            <a:br/>
            <a:r>
              <a:t>the right order?</a:t>
            </a:r>
            <a:br/>
            <a:br/>
            <a:r>
              <a:t>• Plan correctness vs golden plans</a:t>
            </a:r>
            <a:br/>
            <a:r>
              <a:t>• Tool-selection accuracy</a:t>
            </a:r>
            <a:br/>
            <a:r>
              <a:t>• Step-ordering stability</a:t>
            </a:r>
            <a:br/>
            <a:r>
              <a:t>• Migrate FIRST — drives everything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1645920"/>
            <a:ext cx="3474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6240" y="164592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80560" y="192024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Tool Caller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0632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Are function calls valid and</a:t>
            </a:r>
            <a:br/>
            <a:r>
              <a:t>parameters correct?</a:t>
            </a:r>
            <a:br/>
            <a:br/>
            <a:r>
              <a:t>• Function-call accuracy (name match)</a:t>
            </a:r>
            <a:br/>
            <a:r>
              <a:t>• Parameter extraction fidelity</a:t>
            </a:r>
            <a:br/>
            <a:r>
              <a:t>• Schema compliance checks</a:t>
            </a:r>
            <a:br/>
            <a:r>
              <a:t>• Deterministic — no LLM judge needed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645920"/>
            <a:ext cx="347472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4592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21040" y="192024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26974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Summarizer (lowest risk)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632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Is the final response coherent</a:t>
            </a:r>
            <a:br/>
            <a:r>
              <a:t>and complete?</a:t>
            </a:r>
            <a:br/>
            <a:br/>
            <a:r>
              <a:t>• Groundedness, Relevance (LLM judge)</a:t>
            </a:r>
            <a:br/>
            <a:r>
              <a:t>• Same scoring rubric as RAG</a:t>
            </a:r>
            <a:br/>
            <a:r>
              <a:t>• Correctness vs expected answer</a:t>
            </a:r>
            <a:br/>
            <a:r>
              <a:t>• Usually the last to migrate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297680"/>
            <a:ext cx="1115568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Key difference: Tool-Sequence Stability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754880"/>
            <a:ext cx="5303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A new model may choose DIFFERENT tools in a different order</a:t>
            </a:r>
            <a:br/>
            <a:r>
              <a:t>but reach the same correct result. Your evaluation must</a:t>
            </a:r>
            <a:br/>
            <a:r>
              <a:t>distinguish:</a:t>
            </a:r>
            <a:br/>
            <a:r>
              <a:t>• Different path, same result → acceptable variation</a:t>
            </a:r>
            <a:br/>
            <a:r>
              <a:t>• Different path, different result → investigate</a:t>
            </a:r>
            <a:br/>
            <a:r>
              <a:t>• Wrong tools chosen → regression</a:t>
            </a:r>
            <a:br/>
            <a:br/>
            <a:r>
              <a:t>Golden datasets should capture expected tool sequences AND</a:t>
            </a:r>
            <a:br/>
            <a:r>
              <a:t>acceptable alternatives.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Agentic Golden Dataset Format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17920" y="4754880"/>
          <a:ext cx="53035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Field</a:t>
                      </a:r>
                    </a:p>
                  </a:txBody>
                  <a:tcPr>
                    <a:solidFill>
                      <a:srgbClr val="107C1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Example</a:t>
                      </a:r>
                    </a:p>
                  </a:txBody>
                  <a:tcPr>
                    <a:solidFill>
                      <a:srgbClr val="107C1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user_request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"Book a meeting with John next Tuesday at 2pm"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expected_tools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["calendar.check_availability", "calendar.create_event"]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expected_params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{"attendee": "John", "day": "Tuesday", "time": "14:00"}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expected_answer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"Meeting booked for Tue at 2:00 PM with John"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alt_tool_paths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[["calendar.search", "calendar.create_event"]]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Sample App: RAG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06060"/>
                </a:solidFill>
                <a:latin typeface="Segoe UI"/>
              </a:defRPr>
            </a:pPr>
            <a:r>
              <a:t>A methodology demo — the evaluation patterns transfer to any retrieval backend and domain.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554480"/>
            <a:ext cx="2286000" cy="16459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🔄 Rephrase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gpt-4o-mini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gpt-4.1-mini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554480"/>
            <a:ext cx="2286000" cy="1645920"/>
          </a:xfrm>
          <a:prstGeom prst="rect">
            <a:avLst/>
          </a:prstGeom>
          <a:solidFill>
            <a:srgbClr val="881E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📐 Embed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text-embed-3-large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(unchanged)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554480"/>
            <a:ext cx="2286000" cy="164592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🔍 Retrieve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Cosine similarity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top-k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60606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1554480"/>
            <a:ext cx="2286000" cy="16459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2396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✍️ Generate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148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FFFFF"/>
                </a:solidFill>
                <a:latin typeface="Segoe UI"/>
              </a:defRPr>
            </a:pPr>
            <a:r>
              <a:t>gpt-4o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23960" y="2606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88"/>
                </a:solidFill>
                <a:latin typeface="Segoe UI"/>
              </a:defRPr>
            </a:pPr>
            <a:r>
              <a:t>→ gpt-4.1 / 5.4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56616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Each step is isolated — swap individual models via .env without touching code. Same script, different config.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0" y="429768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3566160"/>
                <a:gridCol w="356616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Difficulty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Simple lookup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Single-doc factual retrieval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Multi-document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Combine info from 2-3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Cross-category / Specific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Spans domains, precise numerics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Must answer 'not enough info'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Adversarial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Misleading assumptions, contradictions, multi-hop reasoning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Key Principle: "Least Changes" — Config Only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7C10"/>
                </a:solidFill>
                <a:latin typeface="Segoe UI"/>
              </a:defRPr>
            </a:pPr>
            <a:r>
              <a:t>📄 .env  (the ONLY file you change)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AZURE_OPENAI_ENDPOINT=https://your-endpoint...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Baseline models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RAG_SOURCE_MODEL=gpt-4o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Migration target — CHANGE THIS LINE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# Supporting models (unchanged)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RAG_EMBEDDING_MODEL=text-embedding-3-large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RAG_REPHRASER_MODEL=gpt-4o-mini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200">
                <a:solidFill>
                  <a:srgbClr val="CCDDCC"/>
                </a:solidFill>
                <a:latin typeface="Segoe UI"/>
              </a:rPr>
              <a:t>RAG_JUDGE_MODEL=gpt-4o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2B5C"/>
                </a:solidFill>
                <a:latin typeface="Segoe UI"/>
              </a:defRPr>
            </a:pPr>
            <a:r>
              <a:t>Migration workflow: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1️⃣  Edit .env → set RAG_TARGET_MODEL=gpt-4.1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2️⃣  Run: python test_e2e.py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3️⃣  Review scores + JSON audit trail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4️⃣  Edit .env → set RAG_TARGET_MODEL=gpt-5.4-mini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5️⃣  Run same script → compare results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6️⃣  Upload to Foundry dashboard for side-by-side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/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Zero code changes across all model comparisons.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>
                <a:solidFill>
                  <a:srgbClr val="606060"/>
                </a:solidFill>
                <a:latin typeface="Segoe UI"/>
              </a:rPr>
              <a:t>Same golden dataset reused every cycle.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5216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Segoe UI"/>
              </a:defRPr>
            </a:pPr>
            <a:r>
              <a:t>Proven: We ran gpt-4o → gpt-4.1 → gpt-5.4-mini with the SAME script, SAME dataset. All passing.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Live Results: Real API Calls, Real Scores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6984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4620"/>
                <a:gridCol w="2674620"/>
                <a:gridCol w="2674620"/>
                <a:gridCol w="2674620"/>
              </a:tblGrid>
              <a:tr h="3810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gpt-4o (baseline)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gpt-4.1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gpt-5.4-mini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Groundedness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Relevance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5.00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Correctness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4.73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4.80 =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Avg Latency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2,100ms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1,700ms (−19%)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Retrieval Stability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14/15 identical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315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gpt-4.1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Quality improved, 19% faster</a:t>
            </a:r>
            <a:br/>
            <a:r>
              <a:t>Zero regressions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840480"/>
            <a:ext cx="3291840" cy="109728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7C10"/>
                </a:solidFill>
                <a:latin typeface="Segoe UI"/>
              </a:defRPr>
            </a:pPr>
            <a:r>
              <a:t>✅ gpt-4o → gpt-5.4-mini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Equal or better on all metrics</a:t>
            </a:r>
            <a:br/>
            <a:r>
              <a:t>19% faster, smaller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3840480"/>
            <a:ext cx="3291840" cy="109728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3931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8D4"/>
                </a:solidFill>
                <a:latin typeface="Segoe UI"/>
              </a:defRPr>
            </a:pPr>
            <a:r>
              <a:t>📊 Azure AI Foundry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429768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06060"/>
                </a:solidFill>
                <a:latin typeface="Segoe UI"/>
              </a:defRPr>
            </a:pPr>
            <a:r>
              <a:t>Both runs uploaded to Foundry</a:t>
            </a:r>
            <a:br/>
            <a:r>
              <a:t>Side-by-side dashboard available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03520"/>
            <a:ext cx="1069848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949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Evaluation effort: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760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~156 total API calls  •  20 golden tests × 2 models  •  Dual-layer scoring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Runtime: ~3 minutes on Azure OpenAI  •  Dataset reusable across every migration cycle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300">
                <a:solidFill>
                  <a:srgbClr val="606060"/>
                </a:solidFill>
                <a:latin typeface="Segoe UI"/>
              </a:rPr>
              <a:t>No manual intervention  •  Full JSON audit trail exported automatically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When Something Breaks: Detection → Diagnosis → Remediation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25603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55448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drops,</a:t>
            </a:r>
            <a:br/>
            <a:r>
              <a:t>generation 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Retrieval changed.</a:t>
            </a:r>
            <a:br/>
            <a:r>
              <a:t>Re-embed KB or roll back</a:t>
            </a:r>
            <a:br/>
            <a:r>
              <a:t>embedding change.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66160" y="1280160"/>
            <a:ext cx="2560320" cy="54864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0" y="1554480"/>
            <a:ext cx="640080" cy="640080"/>
          </a:xfrm>
          <a:prstGeom prst="ellipse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E2E AND gen</a:t>
            </a:r>
            <a:br/>
            <a:r>
              <a:t>both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itself is worse.</a:t>
            </a:r>
            <a:br/>
            <a:r>
              <a:t>Tune prompt/params or</a:t>
            </a:r>
            <a:br/>
            <a:r>
              <a:t>try next candidate.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0" y="1280160"/>
            <a:ext cx="2560320" cy="54864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675120" y="1554480"/>
            <a:ext cx="640080" cy="640080"/>
          </a:xfrm>
          <a:prstGeom prst="ellipse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⏱️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Scores stable,</a:t>
            </a:r>
            <a:br/>
            <a:r>
              <a:t>latency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Model is slower.</a:t>
            </a:r>
            <a:br/>
            <a:r>
              <a:t>Try -mini variant</a:t>
            </a:r>
            <a:br/>
            <a:r>
              <a:t>or batch optimize.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1280160"/>
            <a:ext cx="25603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35440" y="1280160"/>
            <a:ext cx="25603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509760" y="155448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23317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One category</a:t>
            </a:r>
            <a:br/>
            <a:r>
              <a:t>regresses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6974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Topic-specific issue.</a:t>
            </a:r>
            <a:br/>
            <a:r>
              <a:t>Add category tests,</a:t>
            </a:r>
            <a:br/>
            <a:r>
              <a:t>adjust prompts.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4206240"/>
            <a:ext cx="10698480" cy="23774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976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2B5C"/>
                </a:solidFill>
                <a:latin typeface="Segoe UI"/>
              </a:defRPr>
            </a:pPr>
            <a:r>
              <a:t>drift_analysis.py — Track trends across migrations: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📈 Timeline: all evaluation runs with aggregate scores over time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🔬 Per-category cluster analysis: which topics regressed, improved, or stayed stable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🔄 Retrieval stability: consistent document retrieval across model versions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⚡ Automated regression threshold (configurable, default &gt;0.3 drop on 1-5 scale)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Automation: From Manual to Continuous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Nightly</a:t>
            </a:r>
            <a:br/>
            <a:r>
              <a:t>Schedule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Weekdays 3am UTC</a:t>
            </a:r>
            <a:br/>
            <a:r>
              <a:t>or on-demand 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Model Matrix</a:t>
            </a:r>
            <a:br/>
            <a:r>
              <a:t>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7744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Multiple model pairs</a:t>
            </a:r>
            <a:br/>
            <a:r>
              <a:t>tested in parallel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E2E + Task</a:t>
            </a:r>
            <a:br/>
            <a:r>
              <a:t>Evaluation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20 tests × 2 models</a:t>
            </a:r>
            <a:br/>
            <a:r>
              <a:t>Dual-layer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Foundry</a:t>
            </a:r>
            <a:br/>
            <a:r>
              <a:t>Upload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Named runs with</a:t>
            </a:r>
            <a:br/>
            <a:r>
              <a:t>config labels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Drift</a:t>
            </a:r>
            <a:br/>
            <a:r>
              <a:t>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Per-category trends</a:t>
            </a:r>
            <a:br/>
            <a:r>
              <a:t>across 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66960" y="1280160"/>
            <a:ext cx="173736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0" y="141732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78D4"/>
                </a:solidFill>
                <a:latin typeface="Segoe UI"/>
              </a:defRPr>
            </a:pPr>
            <a:r>
              <a:t>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1874519"/>
            <a:ext cx="1554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2B5C"/>
                </a:solidFill>
                <a:latin typeface="Segoe UI"/>
              </a:defRPr>
            </a:pPr>
            <a:r>
              <a:t>Regression</a:t>
            </a:r>
            <a:br/>
            <a:r>
              <a:t>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56032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Auto-fail if score</a:t>
            </a:r>
            <a:br/>
            <a:r>
              <a:t>drops &gt;0.3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Ready-to-use components: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8912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GitHub Actions:</a:t>
            </a:r>
            <a:r>
              <a:rPr sz="1500">
                <a:solidFill>
                  <a:srgbClr val="606060"/>
                </a:solidFill>
                <a:latin typeface="Segoe UI"/>
              </a:rPr>
              <a:t> eval-on-schedule.yml with Azure OIDC login and matrix strategy for parallel model testing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Azure AI Foundry:</a:t>
            </a:r>
            <a:r>
              <a:rPr sz="1500">
                <a:solidFill>
                  <a:srgbClr val="606060"/>
                </a:solidFill>
                <a:latin typeface="Segoe UI"/>
              </a:rPr>
              <a:t> named evaluation runs with built-in coherence/groundedness/relevance evaluators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JSON audit trail:</a:t>
            </a:r>
            <a:r>
              <a:rPr sz="1500">
                <a:solidFill>
                  <a:srgbClr val="606060"/>
                </a:solidFill>
                <a:latin typeface="Segoe UI"/>
              </a:rPr>
              <a:t> every run exports full results — scores, answers, retrieved docs, judge explanations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500" b="1">
                <a:solidFill>
                  <a:srgbClr val="606060"/>
                </a:solidFill>
                <a:latin typeface="Segoe UI"/>
              </a:rPr>
              <a:t>CLI arguments:</a:t>
            </a:r>
            <a:r>
              <a:rPr sz="1500">
                <a:solidFill>
                  <a:srgbClr val="606060"/>
                </a:solidFill>
                <a:latin typeface="Segoe UI"/>
              </a:rPr>
              <a:t> --golden-path, --docs-path, --results-dir for bring-your-own-data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Golden Datasets: Build Once, Reuse Every Cycle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" y="1463040"/>
            <a:ext cx="640080" cy="64008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Stored Completions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Azure OpenAI server-side capture</a:t>
            </a:r>
            <a:br/>
            <a:r>
              <a:t>Zero code changes</a:t>
            </a:r>
            <a:br/>
            <a:r>
              <a:t>Export real user queries + responses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59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80559" y="1188720"/>
            <a:ext cx="3474720" cy="54864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754879" y="1463040"/>
            <a:ext cx="640080" cy="640080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39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APIM / Gateway Logs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39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Gateway-level capture</a:t>
            </a:r>
            <a:br/>
            <a:r>
              <a:t>Request/response pairs</a:t>
            </a:r>
            <a:br/>
            <a:r>
              <a:t>Works for any backend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8" y="1188720"/>
            <a:ext cx="3474720" cy="2560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598" y="1188720"/>
            <a:ext cx="3474720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03918" y="1463040"/>
            <a:ext cx="640080" cy="640080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78" y="22402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Synthetic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8" y="260604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06060"/>
                </a:solidFill>
                <a:latin typeface="Segoe UI"/>
              </a:defRPr>
            </a:pPr>
            <a:r>
              <a:t>SDK Simulator or LLM-powered</a:t>
            </a:r>
            <a:br/>
            <a:r>
              <a:t>For new apps without traffic</a:t>
            </a:r>
            <a:br/>
            <a:r>
              <a:t>Minimal inference overhead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1605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2B5C"/>
                </a:solidFill>
                <a:latin typeface="Segoe UI"/>
              </a:defRPr>
            </a:pPr>
            <a:r>
              <a:t>💡 Most enterprises already have production data. The golden dataset leverages data you've already generated — not new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Built-in PII redaction: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Azure AI Language PII detection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Configurable entity categories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Batch JSONL file processing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Production-safe test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937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2B5C"/>
                </a:solidFill>
                <a:latin typeface="Segoe UI"/>
              </a:defRPr>
            </a:pPr>
            <a:r>
              <a:t>Sizing guide: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539496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Smoke test: 15-30 cases (routine update)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Standard: 50-100 cases (model family change)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Thorough: 100-200 cases (critical production)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400">
                <a:solidFill>
                  <a:srgbClr val="606060"/>
                </a:solidFill>
                <a:latin typeface="Segoe UI"/>
              </a:rPr>
              <a:t>Comprehensive: 200-500 cases (regulated/high-risk)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B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Segoe UI"/>
              </a:defRPr>
            </a:pPr>
            <a:r>
              <a:t>Addressing Common Concerns — Point by Point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1124712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5892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Concern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How We Address It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078D4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is too expensive per use case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Reusable dataset + config-only swap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= near-zero incremental effort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~156 API calls per cycle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script, different .env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E2E testing doesn't explain root causes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Dual-layer: E2E catches regression,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task-level localizes (retrieval vs gen)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evaluate_pipeline.py: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isolated scoring per step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Evaluation methodology is unclear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Unified hybrid methodology with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clear decision table and scoring rubrics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(400+ lines, 4 remediation scenarios)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Manual intervention doesn't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.env swap + CI/CD nightly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matrix strategy for parallel tests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eval-on-schedule.yml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GitHub Actions workflow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Rebuilding datasets per app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Mine from production traffic (Stored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Completions, APIM) — already generated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building-golden-datasets.md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+ PII redaction toolkit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No remediation guidance when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regression is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4-scenario remediation playbook: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diagnosis → root cause → fix action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Remediation Playbook section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with per-category drift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Need dashboard visibility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Azure AI Foundry: named runs,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built-in evaluators, portal comparison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upload_to_foundry.py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verified working + dashboard URL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892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What about agentic apps?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Same dual-layer methodology.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Planner, tool-caller, summarizer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each tested at task level.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Agentic evaluation slide +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migrating-multi-step-apps.md</a:t>
                      </a:r>
                    </a:p>
                    <a:p>
                      <a:pPr>
                        <a:defRPr sz="1200">
                          <a:solidFill>
                            <a:srgbClr val="111111"/>
                          </a:solidFill>
                          <a:latin typeface="Segoe UI"/>
                        </a:defRPr>
                      </a:pPr>
                      <a:r>
                        <a:t>Agent Workflow section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B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Segoe UI"/>
              </a:defRPr>
            </a:pPr>
            <a:r>
              <a:t>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1️⃣  Align on hybrid methodology — share the written evaluation guide with all stakeholders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2️⃣  Decide data approach: real production logs (Stored Completions / APIM) or synthetic — both supported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3️⃣  Pilot: run the toolkit against one production use case with your models and your data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4️⃣  Scale: extend golden datasets for additional use cases, enable CI/CD automation</a:t>
            </a:r>
          </a:p>
          <a:p>
            <a:pPr>
              <a:spcBef>
                <a:spcPts val="200"/>
              </a:spcBef>
              <a:spcAft>
                <a:spcPts val="600"/>
              </a:spcAft>
            </a:pPr>
            <a:r>
              <a:rPr sz="1800">
                <a:solidFill>
                  <a:srgbClr val="FFFFFF"/>
                </a:solidFill>
                <a:latin typeface="Segoe UI"/>
              </a:rPr>
              <a:t>5️⃣  Dashboard: upload results to Azure AI Foundry for ongoing monitoring and cross-run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5303520"/>
            <a:ext cx="10332720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55778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AACC"/>
                </a:solidFill>
                <a:latin typeface="Segoe UI"/>
              </a:defRPr>
            </a:pPr>
            <a:r>
              <a:t>📦 Toolkit: github.com/aiappsgbb/AOAI-models-migration</a:t>
            </a:r>
            <a:br/>
            <a:r>
              <a:t>📊 Foundry Dashboard: ai.azure.com → your project</a:t>
            </a:r>
            <a:br/>
            <a:r>
              <a:t>📄 Methodology: docs/migrating-multi-step-apps.md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